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DEEB1-B6FC-41F5-BD93-6039A3FA6673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98A18-F840-4391-B878-D57B61B7D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45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698A18-F840-4391-B878-D57B61B7DA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16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0831" y="1566809"/>
            <a:ext cx="8108878" cy="1181528"/>
          </a:xfrm>
        </p:spPr>
        <p:txBody>
          <a:bodyPr>
            <a:normAutofit fontScale="90000"/>
          </a:bodyPr>
          <a:lstStyle/>
          <a:p>
            <a:r>
              <a:rPr b="1" dirty="0"/>
              <a:t>Telecom Customer Churn Analysis using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Prepared by: </a:t>
            </a:r>
            <a:r>
              <a:rPr lang="en-US" dirty="0" err="1"/>
              <a:t>A.vinay</a:t>
            </a:r>
            <a:r>
              <a:rPr lang="en-US" dirty="0"/>
              <a:t>,</a:t>
            </a:r>
          </a:p>
          <a:p>
            <a:r>
              <a:rPr lang="en-US" dirty="0"/>
              <a:t>Naveen </a:t>
            </a:r>
            <a:r>
              <a:rPr lang="en-US" dirty="0" err="1"/>
              <a:t>pichuka</a:t>
            </a:r>
            <a:endParaRPr dirty="0"/>
          </a:p>
          <a:p>
            <a:r>
              <a:rPr dirty="0"/>
              <a:t>October 2025</a:t>
            </a:r>
            <a:endParaRPr lang="en-US" dirty="0"/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420" y="0"/>
            <a:ext cx="5742157" cy="1004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D44B66-42EC-27CD-0EE3-A0A273872890}"/>
              </a:ext>
            </a:extLst>
          </p:cNvPr>
          <p:cNvSpPr txBox="1"/>
          <p:nvPr/>
        </p:nvSpPr>
        <p:spPr>
          <a:xfrm>
            <a:off x="7452852" y="5717458"/>
            <a:ext cx="4960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BATCH NO.  422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078" y="274638"/>
            <a:ext cx="8121721" cy="670584"/>
          </a:xfrm>
        </p:spPr>
        <p:txBody>
          <a:bodyPr>
            <a:normAutofit fontScale="90000"/>
          </a:bodyPr>
          <a:lstStyle/>
          <a:p>
            <a:r>
              <a:rPr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46" y="1160980"/>
            <a:ext cx="8029254" cy="5322013"/>
          </a:xfrm>
        </p:spPr>
        <p:txBody>
          <a:bodyPr>
            <a:normAutofit/>
          </a:bodyPr>
          <a:lstStyle/>
          <a:p>
            <a:r>
              <a:rPr dirty="0"/>
              <a:t>1. Objective &amp; Project Overview</a:t>
            </a:r>
          </a:p>
          <a:p>
            <a:r>
              <a:rPr dirty="0"/>
              <a:t>2. Dataset Summary</a:t>
            </a:r>
          </a:p>
          <a:p>
            <a:r>
              <a:rPr dirty="0"/>
              <a:t>3. Customer Demographics Analysis</a:t>
            </a:r>
          </a:p>
          <a:p>
            <a:r>
              <a:rPr dirty="0"/>
              <a:t>4. Service Subscription Analysis</a:t>
            </a:r>
          </a:p>
          <a:p>
            <a:r>
              <a:rPr dirty="0"/>
              <a:t>5. Contract &amp; Billing Insights</a:t>
            </a:r>
          </a:p>
          <a:p>
            <a:r>
              <a:rPr dirty="0"/>
              <a:t>6. Churn Prediction &amp; Key Drivers</a:t>
            </a:r>
          </a:p>
          <a:p>
            <a:r>
              <a:rPr dirty="0"/>
              <a:t>7. Key Findings &amp; Recommendations</a:t>
            </a:r>
          </a:p>
          <a:p>
            <a:r>
              <a:rPr dirty="0"/>
              <a:t>8. Final Prediction &amp; Business Impact</a:t>
            </a:r>
          </a:p>
          <a:p>
            <a:r>
              <a:rPr dirty="0"/>
              <a:t>9. 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64" y="6171177"/>
            <a:ext cx="3913632" cy="6848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Goal: Identify factors influencing customer churn and build retention strategies.</a:t>
            </a:r>
          </a:p>
          <a:p>
            <a:endParaRPr dirty="0"/>
          </a:p>
          <a:p>
            <a:r>
              <a:rPr dirty="0"/>
              <a:t>Business Need:</a:t>
            </a:r>
          </a:p>
          <a:p>
            <a:pPr marL="0" indent="0">
              <a:buNone/>
            </a:pPr>
            <a:r>
              <a:rPr dirty="0"/>
              <a:t>- High churn increases acquisition costs.</a:t>
            </a:r>
          </a:p>
          <a:p>
            <a:pPr marL="0" indent="0">
              <a:buNone/>
            </a:pPr>
            <a:r>
              <a:rPr dirty="0"/>
              <a:t>- Understanding churn drivers improves loyalty and profitability.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242" y="6164056"/>
            <a:ext cx="3913632" cy="6848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480" y="274638"/>
            <a:ext cx="7844319" cy="537020"/>
          </a:xfrm>
        </p:spPr>
        <p:txBody>
          <a:bodyPr>
            <a:normAutofit fontScale="90000"/>
          </a:bodyPr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773" y="1037690"/>
            <a:ext cx="8358027" cy="428432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• Total Customers: </a:t>
            </a:r>
            <a:r>
              <a:rPr lang="en-US" dirty="0"/>
              <a:t>7,043</a:t>
            </a:r>
            <a:endParaRPr dirty="0"/>
          </a:p>
          <a:p>
            <a:pPr marL="0" indent="0">
              <a:buNone/>
            </a:pPr>
            <a:r>
              <a:rPr dirty="0"/>
              <a:t>• Churned Customers: 1,</a:t>
            </a:r>
            <a:r>
              <a:rPr lang="en-US" dirty="0"/>
              <a:t>869</a:t>
            </a:r>
            <a:r>
              <a:rPr dirty="0"/>
              <a:t> (25%)</a:t>
            </a:r>
          </a:p>
          <a:p>
            <a:pPr marL="0" indent="0">
              <a:buNone/>
            </a:pPr>
            <a:r>
              <a:rPr dirty="0"/>
              <a:t>• Average Tenure: 3</a:t>
            </a:r>
            <a:r>
              <a:rPr lang="en-US" dirty="0"/>
              <a:t>2</a:t>
            </a:r>
            <a:r>
              <a:rPr dirty="0"/>
              <a:t> months</a:t>
            </a:r>
          </a:p>
          <a:p>
            <a:pPr marL="0" indent="0">
              <a:buNone/>
            </a:pPr>
            <a:r>
              <a:rPr dirty="0"/>
              <a:t>• Avg. Monthly Charges: $</a:t>
            </a:r>
            <a:r>
              <a:rPr lang="en-US" dirty="0"/>
              <a:t>64.76</a:t>
            </a:r>
            <a:endParaRPr dirty="0"/>
          </a:p>
          <a:p>
            <a:endParaRPr dirty="0"/>
          </a:p>
          <a:p>
            <a:r>
              <a:rPr dirty="0"/>
              <a:t>Key Features:</a:t>
            </a:r>
          </a:p>
          <a:p>
            <a:pPr marL="0" indent="0">
              <a:buNone/>
            </a:pPr>
            <a:r>
              <a:rPr dirty="0"/>
              <a:t>- Demographics (Gender, </a:t>
            </a:r>
            <a:r>
              <a:rPr dirty="0" err="1"/>
              <a:t>SeniorCitizen</a:t>
            </a:r>
            <a:r>
              <a:rPr dirty="0"/>
              <a:t>, Tenure)</a:t>
            </a:r>
          </a:p>
          <a:p>
            <a:pPr marL="0" indent="0">
              <a:buNone/>
            </a:pPr>
            <a:r>
              <a:rPr dirty="0"/>
              <a:t>- Services (Phone, Internet, Streaming)</a:t>
            </a:r>
          </a:p>
          <a:p>
            <a:pPr marL="0" indent="0">
              <a:buNone/>
            </a:pPr>
            <a:r>
              <a:rPr dirty="0"/>
              <a:t>- Contracts &amp; Billing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dirty="0"/>
              <a:t>(Payment Method, Contract Type,</a:t>
            </a:r>
            <a:r>
              <a:rPr lang="en-US" dirty="0"/>
              <a:t> </a:t>
            </a:r>
            <a:r>
              <a:rPr dirty="0"/>
              <a:t>Monthly Charges)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62" y="6170655"/>
            <a:ext cx="3913632" cy="6848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90" y="274638"/>
            <a:ext cx="7967609" cy="424005"/>
          </a:xfrm>
        </p:spPr>
        <p:txBody>
          <a:bodyPr>
            <a:normAutofit fontScale="90000"/>
          </a:bodyPr>
          <a:lstStyle/>
          <a:p>
            <a:r>
              <a:rPr b="1" dirty="0"/>
              <a:t>Customer Demographics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34727"/>
            <a:ext cx="8229600" cy="2815119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New customers have the highest churn rate (47%), while long-term customers (&gt;5 years) have only 7% churn.</a:t>
            </a:r>
          </a:p>
          <a:p>
            <a:r>
              <a:rPr dirty="0"/>
              <a:t>Senior citizens churn more frequently (~27%). Retention focus should target new and senior customers.</a:t>
            </a:r>
          </a:p>
        </p:txBody>
      </p:sp>
      <p:pic>
        <p:nvPicPr>
          <p:cNvPr id="4" name="Picture 3" descr="churn_by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600"/>
            <a:ext cx="4800600" cy="320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6164051"/>
            <a:ext cx="3913632" cy="684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4A831C-7C9F-E2B9-F8C5-02A08A2C3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21" y="3749845"/>
            <a:ext cx="4945224" cy="30990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94" y="274638"/>
            <a:ext cx="8008706" cy="457199"/>
          </a:xfrm>
        </p:spPr>
        <p:txBody>
          <a:bodyPr>
            <a:normAutofit fontScale="90000"/>
          </a:bodyPr>
          <a:lstStyle/>
          <a:p>
            <a:r>
              <a:rPr b="1" dirty="0"/>
              <a:t>Service Subscription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256" y="1017143"/>
            <a:ext cx="8152544" cy="216784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Fiber Optic users show the highest churn (38%), while DSL and non-internet customers churn less.</a:t>
            </a:r>
          </a:p>
          <a:p>
            <a:r>
              <a:rPr dirty="0"/>
              <a:t>Bundled services and long-term plans can help reduce churn.</a:t>
            </a:r>
          </a:p>
        </p:txBody>
      </p:sp>
      <p:pic>
        <p:nvPicPr>
          <p:cNvPr id="4" name="Picture 3" descr="churn_by_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4989"/>
            <a:ext cx="4471827" cy="36730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029" y="6172112"/>
            <a:ext cx="3517332" cy="684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9B5DB5-FB14-33BD-860D-A4C7F9762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84989"/>
            <a:ext cx="5617029" cy="36730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626" y="274638"/>
            <a:ext cx="8101173" cy="457199"/>
          </a:xfrm>
        </p:spPr>
        <p:txBody>
          <a:bodyPr>
            <a:normAutofit fontScale="90000"/>
          </a:bodyPr>
          <a:lstStyle/>
          <a:p>
            <a:r>
              <a:rPr b="1" dirty="0"/>
              <a:t>Contract &amp; Billing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031" y="1027416"/>
            <a:ext cx="8460769" cy="2671281"/>
          </a:xfrm>
        </p:spPr>
        <p:txBody>
          <a:bodyPr/>
          <a:lstStyle/>
          <a:p>
            <a:r>
              <a:rPr dirty="0"/>
              <a:t>Month-to-month contracts have 45% churn, while yearly contracts have 20% and two-year contracts only 10%.</a:t>
            </a:r>
          </a:p>
          <a:p>
            <a:r>
              <a:rPr dirty="0"/>
              <a:t>Encouraging auto-pay and longer contracts can improve retention.</a:t>
            </a:r>
          </a:p>
        </p:txBody>
      </p:sp>
      <p:pic>
        <p:nvPicPr>
          <p:cNvPr id="4" name="Picture 3" descr="churn_by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5406"/>
            <a:ext cx="4800600" cy="320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086" y="6169576"/>
            <a:ext cx="3722914" cy="684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D70D40-96CA-9E68-CFEF-4DB0481C2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5406"/>
            <a:ext cx="5337110" cy="32790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530" y="274638"/>
            <a:ext cx="8142270" cy="457199"/>
          </a:xfrm>
        </p:spPr>
        <p:txBody>
          <a:bodyPr>
            <a:normAutofit fontScale="90000"/>
          </a:bodyPr>
          <a:lstStyle/>
          <a:p>
            <a:r>
              <a:rPr b="1" dirty="0"/>
              <a:t>Churn Prediction &amp; Key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870" y="1058238"/>
            <a:ext cx="8316930" cy="2558265"/>
          </a:xfrm>
        </p:spPr>
        <p:txBody>
          <a:bodyPr>
            <a:normAutofit lnSpcReduction="10000"/>
          </a:bodyPr>
          <a:lstStyle/>
          <a:p>
            <a:r>
              <a:rPr dirty="0"/>
              <a:t>Power BI analysis shows contract type (40%) and payment method (25%) as top churn drivers.</a:t>
            </a:r>
          </a:p>
          <a:p>
            <a:r>
              <a:rPr dirty="0"/>
              <a:t>Internet service type and tenure also play major roles in churn behavior.</a:t>
            </a:r>
          </a:p>
        </p:txBody>
      </p:sp>
      <p:pic>
        <p:nvPicPr>
          <p:cNvPr id="4" name="Picture 3" descr="churn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6503"/>
            <a:ext cx="3801438" cy="320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412" y="6172095"/>
            <a:ext cx="3913632" cy="684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A17AEB-2E15-C15F-0804-A9735F8C2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56468"/>
            <a:ext cx="4945224" cy="30975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448" y="274638"/>
            <a:ext cx="8070351" cy="557569"/>
          </a:xfrm>
        </p:spPr>
        <p:txBody>
          <a:bodyPr>
            <a:normAutofit fontScale="90000"/>
          </a:bodyPr>
          <a:lstStyle/>
          <a:p>
            <a:r>
              <a:rPr b="1" dirty="0"/>
              <a:t>Final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11539"/>
          </a:xfrm>
        </p:spPr>
        <p:txBody>
          <a:bodyPr/>
          <a:lstStyle/>
          <a:p>
            <a:r>
              <a:rPr dirty="0"/>
              <a:t>Predicted churn rate: 25% with 87% model accuracy.</a:t>
            </a:r>
          </a:p>
          <a:p>
            <a:r>
              <a:rPr dirty="0"/>
              <a:t>High-risk: month-to-month, fiber optic, electronic check, tenure &lt;12 months.</a:t>
            </a:r>
          </a:p>
          <a:p>
            <a:r>
              <a:rPr dirty="0"/>
              <a:t>Targeting top 20% high-risk customers can reduce churn by 5–7% and save $500K–$</a:t>
            </a:r>
            <a:r>
              <a:rPr lang="en-US" dirty="0"/>
              <a:t>674</a:t>
            </a:r>
            <a:r>
              <a:rPr dirty="0"/>
              <a:t>K annually.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62" y="6165762"/>
            <a:ext cx="3913632" cy="6848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Offer discounts for yearly/2-year contracts.</a:t>
            </a:r>
          </a:p>
          <a:p>
            <a:r>
              <a:t>2. Promote credit card or auto-debit payments.</a:t>
            </a:r>
          </a:p>
          <a:p>
            <a:r>
              <a:t>3. Reward loyalty for customers in first year.</a:t>
            </a:r>
          </a:p>
          <a:p>
            <a:r>
              <a:t>4. Provide bundled offers for fiber optic users.</a:t>
            </a:r>
          </a:p>
          <a:p>
            <a:r>
              <a:t>5. Personalized campaigns for senior citizens.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62" y="6164051"/>
            <a:ext cx="3913632" cy="6848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272" y="274638"/>
            <a:ext cx="8039528" cy="578117"/>
          </a:xfrm>
        </p:spPr>
        <p:txBody>
          <a:bodyPr>
            <a:normAutofit fontScale="90000"/>
          </a:bodyPr>
          <a:lstStyle/>
          <a:p>
            <a:r>
              <a:rPr b="1"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228654"/>
          </a:xfrm>
        </p:spPr>
        <p:txBody>
          <a:bodyPr/>
          <a:lstStyle/>
          <a:p>
            <a:r>
              <a:rPr dirty="0"/>
              <a:t>Reducing churn from 25% → 18% can save ~$</a:t>
            </a:r>
            <a:r>
              <a:rPr lang="en-US" dirty="0"/>
              <a:t>674</a:t>
            </a:r>
            <a:r>
              <a:rPr dirty="0"/>
              <a:t>K annually.</a:t>
            </a:r>
          </a:p>
          <a:p>
            <a:r>
              <a:rPr dirty="0"/>
              <a:t>Improved Customer Lifetime Value and retention.</a:t>
            </a:r>
          </a:p>
          <a:p>
            <a:r>
              <a:rPr dirty="0"/>
              <a:t>Enhanced decision-making with Power BI insights.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65" y="6163282"/>
            <a:ext cx="3913632" cy="6848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46" y="274638"/>
            <a:ext cx="8029254" cy="457199"/>
          </a:xfrm>
        </p:spPr>
        <p:txBody>
          <a:bodyPr>
            <a:normAutofit fontScale="90000"/>
          </a:bodyPr>
          <a:lstStyle/>
          <a:p>
            <a:r>
              <a:rPr b="1" dirty="0"/>
              <a:t>Summary of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4270"/>
            <a:ext cx="8229600" cy="595901"/>
          </a:xfrm>
        </p:spPr>
        <p:txBody>
          <a:bodyPr>
            <a:normAutofit/>
          </a:bodyPr>
          <a:lstStyle/>
          <a:p>
            <a:r>
              <a:rPr dirty="0"/>
              <a:t>Top 4 Focus Areas and Expected Impact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830142"/>
              </p:ext>
            </p:extLst>
          </p:nvPr>
        </p:nvGraphicFramePr>
        <p:xfrm>
          <a:off x="457200" y="2137025"/>
          <a:ext cx="8229600" cy="4099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987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Focus Area</a:t>
                      </a:r>
                    </a:p>
                  </a:txBody>
                  <a:tcPr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5B7D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Expected Impact</a:t>
                      </a:r>
                    </a:p>
                  </a:txBody>
                  <a:tcPr>
                    <a:solidFill>
                      <a:srgbClr val="5B7D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87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Contract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Switch to yearly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↓ Churn by 10–15%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87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Payment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Promote auto-debit/credit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↓ Payment-related churn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87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New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Loyalty rewards in 1st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↑ Early retention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87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Fiber Optic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Improve reliability, offer bundles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↓ Tech-related churn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384" y="6162497"/>
            <a:ext cx="3913632" cy="6848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724" y="274638"/>
            <a:ext cx="8060076" cy="619214"/>
          </a:xfrm>
        </p:spPr>
        <p:txBody>
          <a:bodyPr>
            <a:normAutofit fontScale="90000"/>
          </a:bodyPr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0432"/>
            <a:ext cx="8229600" cy="3277456"/>
          </a:xfrm>
        </p:spPr>
        <p:txBody>
          <a:bodyPr>
            <a:normAutofit/>
          </a:bodyPr>
          <a:lstStyle/>
          <a:p>
            <a:r>
              <a:rPr dirty="0"/>
              <a:t>Power BI analysis identified key churn factors: short tenure, month-to-month contracts, and payment methods.</a:t>
            </a:r>
          </a:p>
          <a:p>
            <a:r>
              <a:rPr dirty="0"/>
              <a:t>Implementing targeted retention and contract incentives can reduce churn and enhance business growth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6175197"/>
            <a:ext cx="3913632" cy="6848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1BBC-0228-6293-4371-4EC864866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B712D-0E7C-A4FD-5DF3-1672465EC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373" y="2422133"/>
            <a:ext cx="8029254" cy="69093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/>
              <a:t>THANK YOU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CC013D-CED6-EFB0-0845-053342944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20" y="5672644"/>
            <a:ext cx="4450080" cy="117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99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537</Words>
  <Application>Microsoft Office PowerPoint</Application>
  <PresentationFormat>On-screen Show (4:3)</PresentationFormat>
  <Paragraphs>80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Telecom Customer Churn Analysis using Power BI</vt:lpstr>
      <vt:lpstr>Agenda</vt:lpstr>
      <vt:lpstr>Objective</vt:lpstr>
      <vt:lpstr>Dataset Overview</vt:lpstr>
      <vt:lpstr>Customer Demographics Analysis</vt:lpstr>
      <vt:lpstr>Service Subscription Analysis</vt:lpstr>
      <vt:lpstr>Contract &amp; Billing Insights</vt:lpstr>
      <vt:lpstr>Churn Prediction &amp; Key Drivers</vt:lpstr>
      <vt:lpstr>Final Prediction</vt:lpstr>
      <vt:lpstr>Key Recommendations</vt:lpstr>
      <vt:lpstr>Business Impact</vt:lpstr>
      <vt:lpstr>Summary of Recommendations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NIHAR</dc:creator>
  <cp:keywords/>
  <dc:description>generated using python-pptx</dc:description>
  <cp:lastModifiedBy>Asus</cp:lastModifiedBy>
  <cp:revision>7</cp:revision>
  <dcterms:created xsi:type="dcterms:W3CDTF">2013-01-27T09:14:16Z</dcterms:created>
  <dcterms:modified xsi:type="dcterms:W3CDTF">2025-10-18T05:00:06Z</dcterms:modified>
  <cp:category/>
</cp:coreProperties>
</file>